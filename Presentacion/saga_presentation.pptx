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76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74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3200400"/>
            <a:ext cx="1371600" cy="13716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2560320" cy="34747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ARQUITECTURA DE MICROSERVICIOS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PATRÓN SAGA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Creación de Procesos de Selección de Personal CAS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657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distribuida con RabbitMQ · MySQL · MongoDB · Spring Boot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2011680" cy="457200"/>
          </a:xfrm>
          <a:prstGeom prst="rect">
            <a:avLst/>
          </a:prstGeom>
          <a:solidFill>
            <a:srgbClr val="0077A8">
              <a:alpha val="7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ms-proceso-orquestador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06040" y="3977640"/>
            <a:ext cx="2011680" cy="457200"/>
          </a:xfrm>
          <a:prstGeom prst="rect">
            <a:avLst/>
          </a:prstGeom>
          <a:solidFill>
            <a:srgbClr val="0077A8">
              <a:alpha val="7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ms-proceso-service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54880" y="3977640"/>
            <a:ext cx="2011680" cy="457200"/>
          </a:xfrm>
          <a:prstGeom prst="rect">
            <a:avLst/>
          </a:prstGeom>
          <a:solidFill>
            <a:srgbClr val="0077A8">
              <a:alpha val="7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ms-proceso-comite-service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903720" y="3977640"/>
            <a:ext cx="2011680" cy="457200"/>
          </a:xfrm>
          <a:prstGeom prst="rect">
            <a:avLst/>
          </a:prstGeom>
          <a:solidFill>
            <a:srgbClr val="0077A8">
              <a:alpha val="70000"/>
            </a:srgbClr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ms-notification-service</a:t>
            </a:r>
            <a:endParaRPr lang="en-US" sz="7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D1EA999-8CAC-3E04-B7BF-E21A4EE09DA5}"/>
              </a:ext>
            </a:extLst>
          </p:cNvPr>
          <p:cNvSpPr/>
          <p:nvPr/>
        </p:nvSpPr>
        <p:spPr>
          <a:xfrm>
            <a:off x="393700" y="4517136"/>
            <a:ext cx="73152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Autor: PERCY GIANCARLO GUILLEN ALCANTARA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¿Qué es el Patrón SAGA?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20624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DEFINICIÓN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SAGA es una estrategia para gestionar transacciones distribuidas en arquitecturas de microservicios, donde cada paso local de la transacción publica un evento o mensaje que desencadena el siguiente paso.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COMPENSACIÓN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paso falla, se ejecutan transacciones compensatorias para deshacer los cambios anteriores y mantener la consistencia del sistema.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0233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TIPOS DE SAGA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6576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COREOGRAFÍA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Los microservicios se comunican directamente entre sí mediante eventos. Sin orquestador central.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3657600" cy="1417320"/>
          </a:xfrm>
          <a:prstGeom prst="rect">
            <a:avLst/>
          </a:prstGeom>
          <a:solidFill>
            <a:srgbClr val="E0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926080"/>
            <a:ext cx="73152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71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A8"/>
                </a:solidFill>
              </a:rPr>
              <a:t>ORQUESTACIÓN ← Este caso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Un orquestador central controla el flujo de la SAGA, enviando comandos a cada microservicio y manejando fallos centralmente.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Arquitectura General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05840"/>
            <a:ext cx="146304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</a:rPr>
              <a:t>CLIENTE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</a:rPr>
              <a:t>Postman / App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0" y="1508760"/>
            <a:ext cx="502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</a:rPr>
              <a:t>POST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48840" y="914400"/>
            <a:ext cx="2286000" cy="1188720"/>
          </a:xfrm>
          <a:prstGeom prst="rect">
            <a:avLst/>
          </a:prstGeom>
          <a:solidFill>
            <a:srgbClr val="0D3B5C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914400"/>
            <a:ext cx="2286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051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ms-proceso-orquestador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389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0EF"/>
                </a:solidFill>
              </a:rPr>
              <a:t>:8082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9456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BD SAGA (MySQL)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34840" y="1508760"/>
            <a:ext cx="502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914400"/>
            <a:ext cx="2011680" cy="1188720"/>
          </a:xfrm>
          <a:prstGeom prst="rect">
            <a:avLst/>
          </a:prstGeom>
          <a:solidFill>
            <a:srgbClr val="2D1B00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914400"/>
            <a:ext cx="201168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🐰 RabbitMQ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DE68A"/>
                </a:solidFill>
              </a:rPr>
              <a:t>saga.exchange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FDE68A"/>
                </a:solidFill>
              </a:rPr>
              <a:t>Topic Exchange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74320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08960"/>
            <a:ext cx="27432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2278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ms-proceso-service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8328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:8083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2C55E"/>
                </a:solidFill>
              </a:rPr>
              <a:t>DB: MySQL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45920" y="2103120"/>
            <a:ext cx="0" cy="1005840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200400" y="3108960"/>
            <a:ext cx="274320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108960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2278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ms-proceso-comite-service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4408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:8084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64408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D8"/>
                </a:solidFill>
              </a:rPr>
              <a:t>DB: MySQL + MongoDB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2103120"/>
            <a:ext cx="0" cy="100584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126480" y="3108960"/>
            <a:ext cx="274320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10896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32278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ms-notification-service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90488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:8085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C3AED"/>
                </a:solidFill>
              </a:rPr>
              <a:t>DB: Email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98080" y="2103120"/>
            <a:ext cx="0" cy="100584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937760" y="210312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2103120"/>
            <a:ext cx="30175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PASO 1  ·  Cliente → Orquestador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5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754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4754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http://localhost:8082/api/saga/proceso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"PROCESO CAS N° 999-2026-PCM-OGRH",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"resumen": "CONVOCATORIA PARA LA CONTRATACIÓN...",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"titulo": "2DA. CONVOCATORIA",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"cantidad": 21,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"fechaInicio": "2026-03-04",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"fechaFin": "2026-03-04",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"organoId": "79e69473-...",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"listaProcesoComite":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"organoId": "79e...", "tipo": 3.00,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"nombre": "PERCY GUILLEN", "email": "..."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"organoId": "62...", "tipo": 1.00,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"nombre": "JUAN PEREZ", "email": "..."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0" y="8229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0" y="822960"/>
            <a:ext cx="365760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 200 OK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1188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"sagaId": "411d094d-...",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"Saga started successfully"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237744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2377440"/>
            <a:ext cx="36576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El Orquestador realiza: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289864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23560" y="2880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Genera un sagaId único (UUID)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323697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623560" y="3218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Guarda payload del comité en BD SAGA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357530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23560" y="35570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Estado inicial: STARTED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391363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23560" y="38953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Publica → proceso.create.queue en RabbitMQ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PASO 2  ·  ms-proceso-service — Registro MySQL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5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20624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📥  Lee cola:  proceso.create.queue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4206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45920"/>
            <a:ext cx="4206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459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FLUJO EXITOSO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057400"/>
            <a:ext cx="5486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9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Recibe CreateProcesoCommand de la cola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5486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41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Registra el proceso en MySQL (tb_proceso)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5486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Genera evento ProcesoCreatedEvent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5486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64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Publica → proceso.created (routing key)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5486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75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Cola destino: proceso.created.queue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645920"/>
            <a:ext cx="4206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645920"/>
            <a:ext cx="4206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6459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FLUJO DE ERROR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057400"/>
            <a:ext cx="5486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029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Ocurre una excepción al registrar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468880"/>
            <a:ext cx="5486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441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Captura el error con try/catch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80360"/>
            <a:ext cx="5486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Genera ProcesoCreationFailedEvent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291840"/>
            <a:ext cx="5486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64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Publica → proceso.creation.failed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03320"/>
            <a:ext cx="5486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675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Cola: proceso.creation.failed.queue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822960"/>
            <a:ext cx="420624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822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📤  Orquestador lee:  proceso.created.queue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PASO 3  ·  ms-proceso-comite-service — MySQL + MongoDB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5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E0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Orquestador: actualiza estado → PROCESO_CREATED · recupera payload del comité desde BD SAGA · publica proceso.comite.create.queue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020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Acciones del servicio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</a:rPr>
              <a:t>Lee cola: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proceso.comite.create.queue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</a:rPr>
              <a:t>Recibe: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CreateProcesoComiteCommand con procesoId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9077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</a:rPr>
              <a:t>Guarda comité: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→ tb_proceso_comite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</a:rPr>
              <a:t>Guarda en MongoDB: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20240" y="33467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ProcesoComiteDocument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7856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</a:rPr>
              <a:t>Publica evento: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3785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A8"/>
                </a:solidFill>
              </a:rPr>
              <a:t>En error: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proceso.comite.creation.failed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1600200"/>
            <a:ext cx="4297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600200"/>
            <a:ext cx="4297680" cy="34747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600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MongoDB — ProcesoComiteDocument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2011680"/>
            <a:ext cx="4114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ObjectId("..."),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"idProcesoComite": "uuid",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"organo":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"uuid",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"codigo": "PCM-OGRH",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"nombre": "Oficina de RRHH"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"tipo": 3.00,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"PERCY GUILLEN",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"cyper2@hotmail.com",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"fechaCreacion": "2026-03-14T..."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PASO 4  ·  ms-notification-service — Notificación Email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5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Orquestador: actualiza estado → COMITE_CREATED · publica proceso.comite.notification.queue con datos del comité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020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Flujo de Notificación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Lee proceso.comite.notification.queue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4231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23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" y="24140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Obtiene lista de integrantes del comité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8254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580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Genera email personalizado por integrante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22783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27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5800" y="3218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Envía correo a cada miembro del comité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63016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630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85800" y="36210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Registra notificación enviada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03250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32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Publica: proceso.comite.notificated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4348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34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5800" y="4425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 error: proceso.comite.notification.failed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160020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600200"/>
            <a:ext cx="42976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600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SAGA COMPLETADA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2011680"/>
            <a:ext cx="4069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El orquestador recibe proceso.comite.notificated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Actualiza estado → COMITE_NOTIFICADO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Actualiza estado final → COMPLETED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Persiste en BD SAGA — Caso de uso finalizado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33756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09160" y="3383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Estados de la SAGA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767328"/>
            <a:ext cx="749808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76732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STARTED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413248" y="4018788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58968" y="3767328"/>
            <a:ext cx="749808" cy="50292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8968" y="376732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PROCESO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CREATED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208776" y="4018788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496" y="3767328"/>
            <a:ext cx="749808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376732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COMITE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CREATED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7004304" y="4018788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0024" y="3767328"/>
            <a:ext cx="749808" cy="50292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0024" y="376732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COMITE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NOTIFICADO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7799832" y="4018788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45552" y="3767328"/>
            <a:ext cx="749808" cy="50292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45552" y="376732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COMPLETED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Flujo Completo del Patrón SAGA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9164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" y="804672"/>
            <a:ext cx="1005840" cy="777240"/>
          </a:xfrm>
          <a:prstGeom prst="rect">
            <a:avLst/>
          </a:prstGeom>
          <a:solidFill>
            <a:srgbClr val="0D2A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91440" y="82296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Cliente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POST /saga/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proceso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169164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804672"/>
            <a:ext cx="1005840" cy="777240"/>
          </a:xfrm>
          <a:prstGeom prst="rect">
            <a:avLst/>
          </a:prstGeom>
          <a:solidFill>
            <a:srgbClr val="0D2A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82296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Orquestador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STARTED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→ BD SAGA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920240" y="1581912"/>
            <a:ext cx="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965960"/>
            <a:ext cx="0" cy="3200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463040" y="2286000"/>
            <a:ext cx="914400" cy="548640"/>
          </a:xfrm>
          <a:prstGeom prst="rect">
            <a:avLst/>
          </a:prstGeom>
          <a:solidFill>
            <a:srgbClr val="2D1B0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16352" y="804672"/>
            <a:ext cx="1005840" cy="777240"/>
          </a:xfrm>
          <a:prstGeom prst="rect">
            <a:avLst/>
          </a:prstGeom>
          <a:solidFill>
            <a:srgbClr val="0D2A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82296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ms-proceso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Registra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MySQL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83280" y="1581912"/>
            <a:ext cx="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1965960"/>
            <a:ext cx="0" cy="320040"/>
          </a:xfrm>
          <a:prstGeom prst="line">
            <a:avLst/>
          </a:prstGeom>
          <a:noFill/>
          <a:ln w="12700">
            <a:solidFill>
              <a:srgbClr val="22C55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926080" y="2286000"/>
            <a:ext cx="914400" cy="548640"/>
          </a:xfrm>
          <a:prstGeom prst="rect">
            <a:avLst/>
          </a:prstGeom>
          <a:solidFill>
            <a:srgbClr val="2D1B0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.queue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09160" y="169164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9392" y="804672"/>
            <a:ext cx="1005840" cy="777240"/>
          </a:xfrm>
          <a:prstGeom prst="rect">
            <a:avLst/>
          </a:prstGeom>
          <a:solidFill>
            <a:srgbClr val="0D2A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82296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Orquestador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PROCESO_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CREATED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46320" y="1581912"/>
            <a:ext cx="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965960"/>
            <a:ext cx="0" cy="3200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389120" y="2286000"/>
            <a:ext cx="914400" cy="548640"/>
          </a:xfrm>
          <a:prstGeom prst="rect">
            <a:avLst/>
          </a:prstGeom>
          <a:solidFill>
            <a:srgbClr val="2D1B0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comite.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172200" y="169164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42432" y="804672"/>
            <a:ext cx="1005840" cy="777240"/>
          </a:xfrm>
          <a:prstGeom prst="rect">
            <a:avLst/>
          </a:prstGeom>
          <a:solidFill>
            <a:srgbClr val="0D2A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82296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ms-comite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MySQL +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MongoDB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309360" y="1581912"/>
            <a:ext cx="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1965960"/>
            <a:ext cx="0" cy="3200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852160" y="2286000"/>
            <a:ext cx="914400" cy="548640"/>
          </a:xfrm>
          <a:prstGeom prst="rect">
            <a:avLst/>
          </a:prstGeom>
          <a:solidFill>
            <a:srgbClr val="2D1B0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comite.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635240" y="169164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804672"/>
            <a:ext cx="1005840" cy="777240"/>
          </a:xfrm>
          <a:prstGeom prst="rect">
            <a:avLst/>
          </a:prstGeom>
          <a:solidFill>
            <a:srgbClr val="0D2A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82296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Orquestador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COMITE_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CREATED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772400" y="1581912"/>
            <a:ext cx="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1965960"/>
            <a:ext cx="0" cy="3200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7315200" y="2286000"/>
            <a:ext cx="914400" cy="548640"/>
          </a:xfrm>
          <a:prstGeom prst="rect">
            <a:avLst/>
          </a:prstGeom>
          <a:solidFill>
            <a:srgbClr val="2D1B0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notif.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34440" y="379476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" y="3017520"/>
            <a:ext cx="1188720" cy="685800"/>
          </a:xfrm>
          <a:prstGeom prst="rect">
            <a:avLst/>
          </a:prstGeom>
          <a:solidFill>
            <a:srgbClr val="0D2A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3035808"/>
            <a:ext cx="11521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ms-notif.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Envía emails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34840" y="379476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31920" y="3017520"/>
            <a:ext cx="1188720" cy="685800"/>
          </a:xfrm>
          <a:prstGeom prst="rect">
            <a:avLst/>
          </a:prstGeom>
          <a:solidFill>
            <a:srgbClr val="0D2A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0208" y="3035808"/>
            <a:ext cx="11521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Orquestador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COMPLETED ✓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0" y="3017520"/>
            <a:ext cx="1188720" cy="685800"/>
          </a:xfrm>
          <a:prstGeom prst="rect">
            <a:avLst/>
          </a:prstGeom>
          <a:solidFill>
            <a:srgbClr val="0D2A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61488" y="3035808"/>
            <a:ext cx="11521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.queue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1A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297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COMPENSACIÓN: Si falla ms-comite → Orquestador publica proceso.delete.queue → ms-proceso elimina el registro → Estado: COMPENSATED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Colas RabbitMQ · Routing Keys · Topic Exchange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7160" y="804672"/>
            <a:ext cx="2432304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04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Key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606040" y="804672"/>
            <a:ext cx="2798064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8046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 (Queue)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40680" y="804672"/>
            <a:ext cx="2295144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8046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0" y="804672"/>
            <a:ext cx="1106424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7160" y="1179576"/>
            <a:ext cx="243230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1795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proceso.create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06040" y="1179576"/>
            <a:ext cx="279806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1795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proceso.create.queue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40680" y="1179576"/>
            <a:ext cx="22951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17957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ms-proceso-service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772400" y="1179576"/>
            <a:ext cx="110642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36408" y="1234440"/>
            <a:ext cx="978408" cy="237744"/>
          </a:xfrm>
          <a:prstGeom prst="rect">
            <a:avLst/>
          </a:prstGeom>
          <a:solidFill>
            <a:srgbClr val="0077A8">
              <a:alpha val="8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123444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554480"/>
            <a:ext cx="24323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1554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proceso.created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040" y="1554480"/>
            <a:ext cx="279806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1554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proceso.created.queue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440680" y="1554480"/>
            <a:ext cx="22951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5544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ms-proceso-orquestador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772400" y="1554480"/>
            <a:ext cx="11064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36408" y="1609344"/>
            <a:ext cx="978408" cy="237744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6408" y="160934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37160" y="1929384"/>
            <a:ext cx="243230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1929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proceso.creation.failed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1929384"/>
            <a:ext cx="279806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19293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proceso.creation.failed.queue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40680" y="1929384"/>
            <a:ext cx="22951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192938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ms-proceso-orquestador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72400" y="1929384"/>
            <a:ext cx="110642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36408" y="1984248"/>
            <a:ext cx="978408" cy="237744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36408" y="198424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 ERR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37160" y="2304288"/>
            <a:ext cx="24323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06040" y="2304288"/>
            <a:ext cx="279806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2304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proceso.comite.create.queue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40680" y="2304288"/>
            <a:ext cx="22951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230428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ms-proceso-comite-service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772400" y="2304288"/>
            <a:ext cx="11064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36408" y="2359152"/>
            <a:ext cx="978408" cy="237744"/>
          </a:xfrm>
          <a:prstGeom prst="rect">
            <a:avLst/>
          </a:prstGeom>
          <a:solidFill>
            <a:srgbClr val="0077A8">
              <a:alpha val="8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36408" y="235915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37160" y="2679192"/>
            <a:ext cx="243230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679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606040" y="2679192"/>
            <a:ext cx="279806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0" y="2679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proceso.comite.created.queue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40680" y="2679192"/>
            <a:ext cx="22951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267919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ms-proceso-orquestador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772400" y="2679192"/>
            <a:ext cx="110642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36408" y="2734056"/>
            <a:ext cx="978408" cy="237744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36408" y="273405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37160" y="3054096"/>
            <a:ext cx="24323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30540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proceso.comite.creation.failed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606040" y="3054096"/>
            <a:ext cx="279806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51760" y="3054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proceso.comite.creation.failed.queue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440680" y="3054096"/>
            <a:ext cx="22951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0" y="305409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ms-proceso-orquestador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772400" y="3054096"/>
            <a:ext cx="11064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36408" y="3108960"/>
            <a:ext cx="978408" cy="237744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6408" y="310896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 ERR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37160" y="3429000"/>
            <a:ext cx="243230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" y="3429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proceso.comite.notification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606040" y="3429000"/>
            <a:ext cx="279806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5176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proceso.comite.notification.queue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440680" y="3429000"/>
            <a:ext cx="22951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0" y="34290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ms-notification-service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772400" y="3429000"/>
            <a:ext cx="110642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36408" y="3483864"/>
            <a:ext cx="978408" cy="237744"/>
          </a:xfrm>
          <a:prstGeom prst="rect">
            <a:avLst/>
          </a:prstGeom>
          <a:solidFill>
            <a:srgbClr val="0077A8">
              <a:alpha val="8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36408" y="348386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37160" y="3803904"/>
            <a:ext cx="24323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38039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proceso.comite.notificated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606040" y="3803904"/>
            <a:ext cx="279806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5176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proceso.comite.notificated.queue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440680" y="3803904"/>
            <a:ext cx="22951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0" y="380390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ms-proceso-orquestador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772400" y="3803904"/>
            <a:ext cx="11064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36408" y="3858768"/>
            <a:ext cx="978408" cy="237744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36408" y="385876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37160" y="4178808"/>
            <a:ext cx="243230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" y="4178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proceso.comite.notification.failed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606040" y="4178808"/>
            <a:ext cx="279806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651760" y="4178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proceso.comite.notification.failed.queue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440680" y="4178808"/>
            <a:ext cx="22951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86400" y="41788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ms-proceso-orquestador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772400" y="4178808"/>
            <a:ext cx="110642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836408" y="4233672"/>
            <a:ext cx="978408" cy="237744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36408" y="423367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 ERR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137160" y="4553712"/>
            <a:ext cx="24323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82880" y="45537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proceso.delete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606040" y="4553712"/>
            <a:ext cx="279806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651760" y="45537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proceso.delete.queue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440680" y="4553712"/>
            <a:ext cx="22951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86400" y="45537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ms-proceso-service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7772400" y="4553712"/>
            <a:ext cx="11064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836408" y="4608576"/>
            <a:ext cx="978408" cy="237744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36408" y="460857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COMPENSACIÓN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37160" y="4928616"/>
            <a:ext cx="243230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82880" y="4928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proceso.deleted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606040" y="4928616"/>
            <a:ext cx="279806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651760" y="49286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proceso.deleted.queue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5440680" y="4928616"/>
            <a:ext cx="22951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0" y="492861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ms-proceso-orquestador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7772400" y="4928616"/>
            <a:ext cx="110642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36408" y="4983480"/>
            <a:ext cx="978408" cy="237744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36408" y="498348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COMPENSACIÓN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Beneficios y Conclusiones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1280160"/>
          </a:xfrm>
          <a:prstGeom prst="rect">
            <a:avLst/>
          </a:prstGeom>
          <a:solidFill>
            <a:srgbClr val="0D2A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9144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Consistencia Eventual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mantiene su propia BD y la consistencia se logra de forma eventual mediante eventos y compensaciones.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280160"/>
          </a:xfrm>
          <a:prstGeom prst="rect">
            <a:avLst/>
          </a:prstGeom>
          <a:solidFill>
            <a:srgbClr val="0D2A4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91440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78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Alta Disponibilidad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microservicio falla, el orquestador detecta el fallo y ejecuta la compensación sin perder la trazabilidad del proceso.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60520" cy="1280160"/>
          </a:xfrm>
          <a:prstGeom prst="rect">
            <a:avLst/>
          </a:prstGeom>
          <a:solidFill>
            <a:srgbClr val="0D2A4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9144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95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Trazabilidad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SAGA registra cada estado de la transacción: STARTED → PROCESO_CREATED → COMITE_CREATED → COMPLETED.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160520" cy="1280160"/>
          </a:xfrm>
          <a:prstGeom prst="rect">
            <a:avLst/>
          </a:prstGeom>
          <a:solidFill>
            <a:srgbClr val="0D2A4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9144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95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Compensación Automática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fallos en ms-comite, el orquestador revierte automáticamente el proceso creado mediante la cola proceso.delete.queue.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160520" cy="1280160"/>
          </a:xfrm>
          <a:prstGeom prst="rect">
            <a:avLst/>
          </a:prstGeom>
          <a:solidFill>
            <a:srgbClr val="0D2A4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03320"/>
            <a:ext cx="91440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13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📨  Desacoplamiento Total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garantiza que los microservicios nunca se comunican directamente, reduciendo el acoplamiento al mínimo.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160520" cy="1280160"/>
          </a:xfrm>
          <a:prstGeom prst="rect">
            <a:avLst/>
          </a:prstGeom>
          <a:solidFill>
            <a:srgbClr val="0D2A40"/>
          </a:solidFill>
          <a:ln w="1905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03320"/>
            <a:ext cx="91440" cy="12801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13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Persistencia Dual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ms-proceso-comite-service persiste en MySQL (operacional) y MongoDB (lectura rápida), optimizando cada caso de uso.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Presentación en pantalla (16:9)</PresentationFormat>
  <Paragraphs>263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Patrón SAGA - Creación de Procesos CAS</dc:title>
  <dc:subject>PptxGenJS Presentation</dc:subject>
  <dc:creator>PptxGenJS</dc:creator>
  <cp:lastModifiedBy>Percy Giancarlo Guillen Alcantara</cp:lastModifiedBy>
  <cp:revision>3</cp:revision>
  <dcterms:created xsi:type="dcterms:W3CDTF">2026-03-15T04:26:26Z</dcterms:created>
  <dcterms:modified xsi:type="dcterms:W3CDTF">2026-03-15T04:44:55Z</dcterms:modified>
</cp:coreProperties>
</file>